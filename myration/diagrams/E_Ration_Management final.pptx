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6" r:id="rId11"/>
    <p:sldId id="277" r:id="rId12"/>
    <p:sldId id="278" r:id="rId13"/>
    <p:sldId id="265" r:id="rId14"/>
    <p:sldId id="266" r:id="rId15"/>
    <p:sldId id="301" r:id="rId16"/>
    <p:sldId id="267" r:id="rId17"/>
    <p:sldId id="300" r:id="rId18"/>
    <p:sldId id="299" r:id="rId19"/>
    <p:sldId id="268" r:id="rId20"/>
    <p:sldId id="290" r:id="rId21"/>
    <p:sldId id="269" r:id="rId22"/>
    <p:sldId id="270" r:id="rId23"/>
    <p:sldId id="298" r:id="rId24"/>
    <p:sldId id="291" r:id="rId25"/>
    <p:sldId id="292" r:id="rId26"/>
    <p:sldId id="293" r:id="rId27"/>
    <p:sldId id="295" r:id="rId28"/>
    <p:sldId id="296" r:id="rId29"/>
    <p:sldId id="297" r:id="rId30"/>
    <p:sldId id="271" r:id="rId31"/>
    <p:sldId id="272" r:id="rId32"/>
    <p:sldId id="294" r:id="rId33"/>
    <p:sldId id="274" r:id="rId34"/>
    <p:sldId id="275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7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914400"/>
            <a:ext cx="109728" cy="4480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234440"/>
            <a:ext cx="6738320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E-RATION MANAGEMENT SYSTEM</a:t>
            </a:r>
          </a:p>
          <a:p>
            <a:pPr>
              <a:defRPr sz="2100">
                <a:solidFill>
                  <a:srgbClr val="BFDBFE"/>
                </a:solidFill>
                <a:latin typeface="Aptos"/>
              </a:defRPr>
            </a:pPr>
            <a:r>
              <a:rPr dirty="0"/>
              <a:t>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3063240"/>
            <a:ext cx="4053225" cy="224676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rPr dirty="0"/>
              <a:t>Division of Information Technology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 dirty="0"/>
              <a:t>Cochin University College of Engineering </a:t>
            </a:r>
            <a:r>
              <a:rPr dirty="0" err="1"/>
              <a:t>Kuttanad</a:t>
            </a:r>
            <a:endParaRPr dirty="0"/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 dirty="0"/>
              <a:t>Presented by: </a:t>
            </a:r>
            <a:r>
              <a:rPr lang="en-US" dirty="0"/>
              <a:t> </a:t>
            </a:r>
            <a:r>
              <a:rPr lang="en-US" dirty="0" err="1"/>
              <a:t>Niwana</a:t>
            </a:r>
            <a:r>
              <a:rPr lang="en-US" dirty="0"/>
              <a:t> C Tom – 41 -24102802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		     Parvathi Raj – 42 24102379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		     Reema </a:t>
            </a:r>
            <a:r>
              <a:rPr lang="en-US" dirty="0" err="1"/>
              <a:t>Faroon</a:t>
            </a:r>
            <a:r>
              <a:rPr lang="en-US" dirty="0"/>
              <a:t> K -43 24102346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		     </a:t>
            </a:r>
            <a:r>
              <a:rPr lang="en-US" dirty="0" err="1"/>
              <a:t>Ridhin</a:t>
            </a:r>
            <a:r>
              <a:rPr lang="en-US" dirty="0"/>
              <a:t> Raj K M -44 – 24102766</a:t>
            </a:r>
            <a:endParaRPr dirty="0"/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 dirty="0"/>
              <a:t>Academic Year: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464808"/>
            <a:ext cx="1967205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rPr dirty="0"/>
              <a:t>E-Ration Management System  |  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480060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E-Ration Management System is a web-based platform for digital management of ration services.</a:t>
            </a:r>
          </a:p>
          <a:p>
            <a:pPr>
              <a:spcAft>
                <a:spcPts val="12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It provides separate role-based access for Admin, Shopkeeper and Beneficiary.</a:t>
            </a:r>
          </a:p>
          <a:p>
            <a:pPr>
              <a:spcAft>
                <a:spcPts val="12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The system manages registration, approval, quota, stock, ration distribution, complaints and alerts.</a:t>
            </a:r>
          </a:p>
          <a:p>
            <a:pPr>
              <a:spcAft>
                <a:spcPts val="12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It helps maintain organized records and reduces manual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t>Aim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464808"/>
            <a:ext cx="199125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rPr dirty="0"/>
              <a:t>E-Ration Management System  |  </a:t>
            </a:r>
            <a:r>
              <a:rPr dirty="0" err="1"/>
              <a:t>i</a:t>
            </a:r>
            <a:r>
              <a:rPr dirty="0"/>
              <a:t>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10332720" cy="242316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1508760"/>
            <a:ext cx="64008" cy="2423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24712" y="1645919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743"/>
                </a:solidFill>
                <a:latin typeface="Aptos"/>
              </a:defRPr>
            </a:pPr>
            <a:r>
              <a:t>Project 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2075688"/>
            <a:ext cx="9966960" cy="176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  <a:latin typeface="Aptos"/>
              </a:defRPr>
            </a:pPr>
            <a:r>
              <a:t>To develop a secure and efficient web-based system for managing beneficiaries, ration shops, quotas, stock, ration distribution and complaints in a centralized manner.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4389120"/>
            <a:ext cx="2423160" cy="100584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828800" y="4389120"/>
            <a:ext cx="64008" cy="1005840"/>
          </a:xfrm>
          <a:prstGeom prst="rect">
            <a:avLst/>
          </a:prstGeom>
          <a:solidFill>
            <a:srgbClr val="2A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039112" y="452628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743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39112" y="4956048"/>
            <a:ext cx="2057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  <a:latin typeface="Aptos"/>
              </a:defRPr>
            </a:pPr>
            <a:r>
              <a:t>Controls and verifies the 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4389120"/>
            <a:ext cx="2423160" cy="100584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892040" y="4389120"/>
            <a:ext cx="64008" cy="1005840"/>
          </a:xfrm>
          <a:prstGeom prst="rect">
            <a:avLst/>
          </a:prstGeom>
          <a:solidFill>
            <a:srgbClr val="2A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02352" y="452628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743"/>
                </a:solidFill>
                <a:latin typeface="Aptos"/>
              </a:defRPr>
            </a:pPr>
            <a:r>
              <a:t>Shopkeeper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2352" y="4956048"/>
            <a:ext cx="2057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  <a:latin typeface="Aptos"/>
              </a:defRPr>
            </a:pPr>
            <a:r>
              <a:t>Manages stock and distribution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4389120"/>
            <a:ext cx="2423160" cy="100584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955279" y="4389120"/>
            <a:ext cx="64008" cy="1005840"/>
          </a:xfrm>
          <a:prstGeom prst="rect">
            <a:avLst/>
          </a:prstGeom>
          <a:solidFill>
            <a:srgbClr val="2A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65592" y="452628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743"/>
                </a:solidFill>
                <a:latin typeface="Aptos"/>
              </a:defRPr>
            </a:pPr>
            <a:r>
              <a:t>Beneficiary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5592" y="4956048"/>
            <a:ext cx="2057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  <a:latin typeface="Aptos"/>
              </a:defRPr>
            </a:pPr>
            <a:r>
              <a:t>Views ration services and files complaints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464808"/>
            <a:ext cx="1967205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rPr dirty="0"/>
              <a:t>E-Ration Management System  |  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480060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Digitize beneficiary and shopkeeper registration.</a:t>
            </a:r>
          </a:p>
          <a:p>
            <a:pPr>
              <a:spcAft>
                <a:spcPts val="12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Verify and approve registrations before access.</a:t>
            </a:r>
          </a:p>
          <a:p>
            <a:pPr>
              <a:spcAft>
                <a:spcPts val="12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Manage ration quotas based on card type.</a:t>
            </a:r>
          </a:p>
          <a:p>
            <a:pPr>
              <a:spcAft>
                <a:spcPts val="12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Maintain shop stock and ration distribution records.</a:t>
            </a:r>
          </a:p>
          <a:p>
            <a:pPr>
              <a:spcAft>
                <a:spcPts val="12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Provide beneficiaries with profile, quota, history and alert information.</a:t>
            </a:r>
          </a:p>
          <a:p>
            <a:pPr>
              <a:spcAft>
                <a:spcPts val="12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Provide complaint management and warning notifications.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t>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464808"/>
            <a:ext cx="1967205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rPr dirty="0"/>
              <a:t>E-Ration Management System  |  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80160"/>
            <a:ext cx="507492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280160"/>
            <a:ext cx="64008" cy="1234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417319"/>
            <a:ext cx="4709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743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847088"/>
            <a:ext cx="4709159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  <a:latin typeface="Aptos"/>
              </a:defRPr>
            </a:pPr>
            <a:r>
              <a:t>Login, role verification and approval 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80160"/>
            <a:ext cx="507492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280160"/>
            <a:ext cx="64008" cy="1234440"/>
          </a:xfrm>
          <a:prstGeom prst="rect">
            <a:avLst/>
          </a:prstGeom>
          <a:solidFill>
            <a:srgbClr val="2A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3952" y="1417319"/>
            <a:ext cx="4709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743"/>
                </a:solidFill>
                <a:latin typeface="Aptos"/>
              </a:defRPr>
            </a:pPr>
            <a:r>
              <a:t>Beneficiary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1847088"/>
            <a:ext cx="4709159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  <a:latin typeface="Aptos"/>
              </a:defRPr>
            </a:pPr>
            <a:r>
              <a:t>Profile, quota, history, alerts and complaints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852928"/>
            <a:ext cx="507492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" y="2852928"/>
            <a:ext cx="64008" cy="1234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2990088"/>
            <a:ext cx="4709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743"/>
                </a:solidFill>
                <a:latin typeface="Aptos"/>
              </a:defRPr>
            </a:pPr>
            <a:r>
              <a:t>Shopkeeper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3419856"/>
            <a:ext cx="4709159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  <a:latin typeface="Aptos"/>
              </a:defRPr>
            </a:pPr>
            <a:r>
              <a:t>Stock updates and ration distribution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852928"/>
            <a:ext cx="507492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640" y="2852928"/>
            <a:ext cx="64008" cy="1234440"/>
          </a:xfrm>
          <a:prstGeom prst="rect">
            <a:avLst/>
          </a:prstGeom>
          <a:solidFill>
            <a:srgbClr val="2A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73952" y="2990088"/>
            <a:ext cx="4709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743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3419856"/>
            <a:ext cx="4709159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  <a:latin typeface="Aptos"/>
              </a:defRPr>
            </a:pPr>
            <a:r>
              <a:t>Dashboard, approvals, quota and item management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425696"/>
            <a:ext cx="507492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77240" y="4425696"/>
            <a:ext cx="64008" cy="1234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7552" y="4562856"/>
            <a:ext cx="4709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743"/>
                </a:solidFill>
                <a:latin typeface="Aptos"/>
              </a:defRPr>
            </a:pPr>
            <a:r>
              <a:t>Inventory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4992624"/>
            <a:ext cx="4709159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  <a:latin typeface="Aptos"/>
              </a:defRPr>
            </a:pPr>
            <a:r>
              <a:t>Available, allocated and distributed stock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425696"/>
            <a:ext cx="507492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63640" y="4425696"/>
            <a:ext cx="64008" cy="1234440"/>
          </a:xfrm>
          <a:prstGeom prst="rect">
            <a:avLst/>
          </a:prstGeom>
          <a:solidFill>
            <a:srgbClr val="2A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73952" y="4562856"/>
            <a:ext cx="4709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743"/>
                </a:solidFill>
                <a:latin typeface="Aptos"/>
              </a:defRPr>
            </a:pPr>
            <a:r>
              <a:t>Complaint &amp; Alerts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4992624"/>
            <a:ext cx="4709159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  <a:latin typeface="Aptos"/>
              </a:defRPr>
            </a:pPr>
            <a:r>
              <a:t>Complaint handling and warning notifications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t>Requirement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Functional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464808"/>
            <a:ext cx="1946367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rPr dirty="0"/>
              <a:t>E-Ration Management System  | 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10515600" cy="480060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200"/>
              </a:spcAft>
              <a:defRPr sz="1650">
                <a:solidFill>
                  <a:srgbClr val="232D3C"/>
                </a:solidFill>
                <a:latin typeface="Aptos"/>
              </a:defRPr>
            </a:pPr>
            <a:r>
              <a:t>User Login – credential verification, role identification and approval checking.</a:t>
            </a:r>
          </a:p>
          <a:p>
            <a:pPr>
              <a:spcAft>
                <a:spcPts val="1200"/>
              </a:spcAft>
              <a:defRPr sz="1650">
                <a:solidFill>
                  <a:srgbClr val="232D3C"/>
                </a:solidFill>
                <a:latin typeface="Aptos"/>
              </a:defRPr>
            </a:pPr>
            <a:r>
              <a:t>Beneficiary Registration – personal, Aadhaar, ration card, shop and account details.</a:t>
            </a:r>
          </a:p>
          <a:p>
            <a:pPr>
              <a:spcAft>
                <a:spcPts val="1200"/>
              </a:spcAft>
              <a:defRPr sz="1650">
                <a:solidFill>
                  <a:srgbClr val="232D3C"/>
                </a:solidFill>
                <a:latin typeface="Aptos"/>
              </a:defRPr>
            </a:pPr>
            <a:r>
              <a:t>Shopkeeper Registration – owner, Aadhaar, shop, license and account details.</a:t>
            </a:r>
          </a:p>
          <a:p>
            <a:pPr>
              <a:spcAft>
                <a:spcPts val="1200"/>
              </a:spcAft>
              <a:defRPr sz="1650">
                <a:solidFill>
                  <a:srgbClr val="232D3C"/>
                </a:solidFill>
                <a:latin typeface="Aptos"/>
              </a:defRPr>
            </a:pPr>
            <a:r>
              <a:t>View Profile, Monthly Quota, Distribution History and Alerts.</a:t>
            </a:r>
          </a:p>
          <a:p>
            <a:pPr>
              <a:spcAft>
                <a:spcPts val="1200"/>
              </a:spcAft>
              <a:defRPr sz="1650">
                <a:solidFill>
                  <a:srgbClr val="232D3C"/>
                </a:solidFill>
                <a:latin typeface="Aptos"/>
              </a:defRPr>
            </a:pPr>
            <a:r>
              <a:t>View Shop Stock and Update Stock.</a:t>
            </a:r>
          </a:p>
          <a:p>
            <a:pPr>
              <a:spcAft>
                <a:spcPts val="1200"/>
              </a:spcAft>
              <a:defRPr sz="1650">
                <a:solidFill>
                  <a:srgbClr val="232D3C"/>
                </a:solidFill>
                <a:latin typeface="Aptos"/>
              </a:defRPr>
            </a:pPr>
            <a:r>
              <a:t>Distribute Ration and update stock after distribution.</a:t>
            </a:r>
          </a:p>
          <a:p>
            <a:pPr>
              <a:spcAft>
                <a:spcPts val="1200"/>
              </a:spcAft>
              <a:defRPr sz="1650">
                <a:solidFill>
                  <a:srgbClr val="232D3C"/>
                </a:solidFill>
                <a:latin typeface="Aptos"/>
              </a:defRPr>
            </a:pPr>
            <a:r>
              <a:t>Dashboard Management and Approve Registrations.</a:t>
            </a:r>
          </a:p>
          <a:p>
            <a:pPr>
              <a:spcAft>
                <a:spcPts val="1200"/>
              </a:spcAft>
              <a:defRPr sz="1650">
                <a:solidFill>
                  <a:srgbClr val="232D3C"/>
                </a:solidFill>
                <a:latin typeface="Aptos"/>
              </a:defRPr>
            </a:pPr>
            <a:r>
              <a:t>Manage Quota and Add New Item.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t>Requirement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Functional Requirements –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464808"/>
            <a:ext cx="1946367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rPr dirty="0"/>
              <a:t>E-Ration Management System  | 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10515600" cy="480060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Complaint Management – admin reviews and updates complaint status.</a:t>
            </a:r>
          </a:p>
          <a:p>
            <a:pPr>
              <a:spcAft>
                <a:spcPts val="12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File Complaint – beneficiary submits a complaint against a ration shop.</a:t>
            </a:r>
          </a:p>
          <a:p>
            <a:pPr>
              <a:spcAft>
                <a:spcPts val="12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Warning Alert – admin sends a warning notification to a shopkeeper.</a:t>
            </a:r>
          </a:p>
          <a:p>
            <a:pPr>
              <a:spcAft>
                <a:spcPts val="12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Invalid Login Handling – displays invalid credentials or pending approval messages.</a:t>
            </a:r>
          </a:p>
          <a:p>
            <a:pPr>
              <a:spcAft>
                <a:spcPts val="12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Registration details are stored with Pending Approval status until verification.</a:t>
            </a:r>
          </a:p>
          <a:p>
            <a:pPr>
              <a:spcAft>
                <a:spcPts val="1200"/>
              </a:spcAft>
              <a:defRPr sz="1800">
                <a:solidFill>
                  <a:srgbClr val="232D3C"/>
                </a:solidFill>
                <a:latin typeface="Aptos"/>
              </a:defRPr>
            </a:pPr>
            <a:r>
              <a:t>Role-based access is provided for Admin, Shopkeeper and Beneficiary.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t>Requirement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Non-Functional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464808"/>
            <a:ext cx="1967205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rPr dirty="0"/>
              <a:t>E-Ration Management System  |  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21208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64008" cy="1234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1463039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743"/>
                </a:solidFill>
                <a:latin typeface="Aptos"/>
              </a:defRPr>
            </a:pPr>
            <a:r>
              <a:t>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1892807"/>
            <a:ext cx="484632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  <a:latin typeface="Aptos"/>
              </a:defRPr>
            </a:pPr>
            <a:r>
              <a:t>Fast and responsive operation; optimized database queries; common operations targeted below 2 seconds.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521208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64008" cy="1234440"/>
          </a:xfrm>
          <a:prstGeom prst="rect">
            <a:avLst/>
          </a:prstGeom>
          <a:solidFill>
            <a:srgbClr val="2A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8232" y="1463039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743"/>
                </a:solidFill>
                <a:latin typeface="Aptos"/>
              </a:defRPr>
            </a:pPr>
            <a:r>
              <a:t>Compatibility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1892807"/>
            <a:ext cx="484632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  <a:latin typeface="Aptos"/>
              </a:defRPr>
            </a:pPr>
            <a:r>
              <a:t>Desktop, laptop, tablet and mobile support; Chrome, Firefox, Edge and Safari; XAMPP and live deployment.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880360"/>
            <a:ext cx="521208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2880360"/>
            <a:ext cx="64008" cy="1234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" y="30175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743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3447288"/>
            <a:ext cx="484632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  <a:latin typeface="Aptos"/>
              </a:defRPr>
            </a:pPr>
            <a:r>
              <a:t>Password hashing, JWT authentication, role-based access control and protection against SQL injection and unauthorized access.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880360"/>
            <a:ext cx="521208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2880360"/>
            <a:ext cx="64008" cy="1234440"/>
          </a:xfrm>
          <a:prstGeom prst="rect">
            <a:avLst/>
          </a:prstGeom>
          <a:solidFill>
            <a:srgbClr val="2A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28232" y="30175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743"/>
                </a:solidFill>
                <a:latin typeface="Aptos"/>
              </a:defRPr>
            </a:pPr>
            <a:r>
              <a:t>Reliability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3447288"/>
            <a:ext cx="484632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  <a:latin typeface="Aptos"/>
              </a:defRPr>
            </a:pPr>
            <a:r>
              <a:t>Accurate quota, stock and transaction records with backup and recovery mechanisms.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4434840"/>
            <a:ext cx="521208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474720" y="4434840"/>
            <a:ext cx="64008" cy="1234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85032" y="45720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743"/>
                </a:solidFill>
                <a:latin typeface="Aptos"/>
              </a:defRPr>
            </a:pPr>
            <a:r>
              <a:t>Usability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85032" y="5001768"/>
            <a:ext cx="484632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D3C"/>
                </a:solidFill>
                <a:latin typeface="Aptos"/>
              </a:defRPr>
            </a:pPr>
            <a:r>
              <a:t>User-friendly interface for beneficiaries, shopkeepers and administrators.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t>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The system has three main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17320"/>
            <a:ext cx="3246120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417320"/>
            <a:ext cx="73152" cy="3566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1581912"/>
            <a:ext cx="28346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743"/>
                </a:solidFill>
                <a:latin typeface="Aptos"/>
              </a:defRPr>
            </a:pPr>
            <a:r>
              <a:t>ADMIN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075688"/>
            <a:ext cx="2834639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C"/>
                </a:solidFill>
                <a:latin typeface="Aptos"/>
              </a:defRPr>
            </a:pPr>
            <a:r>
              <a:t>• Manage dashboard statistics</a:t>
            </a:r>
            <a:br/>
            <a:r>
              <a:t>• Approve / reject registrations</a:t>
            </a:r>
            <a:br/>
            <a:r>
              <a:t>• Manage ration quota</a:t>
            </a:r>
            <a:br/>
            <a:r>
              <a:t>• Add new ration items</a:t>
            </a:r>
            <a:br/>
            <a:r>
              <a:t>• Manage complaints</a:t>
            </a:r>
            <a:br/>
            <a:r>
              <a:t>• Send warning alerts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246120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1417320"/>
            <a:ext cx="73152" cy="3566160"/>
          </a:xfrm>
          <a:prstGeom prst="rect">
            <a:avLst/>
          </a:prstGeom>
          <a:solidFill>
            <a:srgbClr val="2A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60" y="1581912"/>
            <a:ext cx="28346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743"/>
                </a:solidFill>
                <a:latin typeface="Aptos"/>
              </a:defRPr>
            </a:pPr>
            <a:r>
              <a:t>SHOPKEEPER MODULE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075688"/>
            <a:ext cx="2834639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C"/>
                </a:solidFill>
                <a:latin typeface="Aptos"/>
              </a:defRPr>
            </a:pPr>
            <a:r>
              <a:t>• Register as shopkeeper</a:t>
            </a:r>
            <a:br/>
            <a:r>
              <a:t>• View shop stock</a:t>
            </a:r>
            <a:br/>
            <a:r>
              <a:t>• Update stock</a:t>
            </a:r>
            <a:br/>
            <a:r>
              <a:t>• Distribute ration</a:t>
            </a:r>
            <a:br/>
            <a:r>
              <a:t>• Maintain distribution 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246120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417320"/>
            <a:ext cx="73152" cy="3566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1581912"/>
            <a:ext cx="28346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743"/>
                </a:solidFill>
                <a:latin typeface="Aptos"/>
              </a:defRPr>
            </a:pPr>
            <a:r>
              <a:t>BENEFICIARY MODULE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075688"/>
            <a:ext cx="2834639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C"/>
                </a:solidFill>
                <a:latin typeface="Aptos"/>
              </a:defRPr>
            </a:pPr>
            <a:r>
              <a:t>• Register as beneficiary</a:t>
            </a:r>
            <a:br/>
            <a:r>
              <a:t>• View profile</a:t>
            </a:r>
            <a:br/>
            <a:r>
              <a:t>• View monthly quota</a:t>
            </a:r>
            <a:br/>
            <a:r>
              <a:t>• View distribution history</a:t>
            </a:r>
            <a:br/>
            <a:r>
              <a:t>• View alerts and shop stock</a:t>
            </a:r>
            <a:br/>
            <a:r>
              <a:t>• File complaints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6464808"/>
            <a:ext cx="1967205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rPr dirty="0"/>
              <a:t>E-Ration Management System  |  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t>Admin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Module and Functionalities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73152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399032"/>
            <a:ext cx="10241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743"/>
                </a:solidFill>
                <a:latin typeface="Aptos"/>
              </a:defRPr>
            </a:pPr>
            <a:r>
              <a:t>Module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92808"/>
            <a:ext cx="10241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C"/>
                </a:solidFill>
                <a:latin typeface="Aptos"/>
              </a:defRPr>
            </a:pPr>
            <a:r>
              <a:t>Provides administrative control over users, ration items, quota, complaints and system statistics.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514600"/>
            <a:ext cx="516636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2514600"/>
            <a:ext cx="73152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679192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743"/>
                </a:solidFill>
                <a:latin typeface="Aptos"/>
              </a:defRPr>
            </a:pPr>
            <a:r>
              <a:t>Dashboard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172968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C"/>
                </a:solidFill>
                <a:latin typeface="Aptos"/>
              </a:defRPr>
            </a:pPr>
            <a:r>
              <a:t>View total users, pending approvals and pending complaints.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14600"/>
            <a:ext cx="516636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2514600"/>
            <a:ext cx="73152" cy="960120"/>
          </a:xfrm>
          <a:prstGeom prst="rect">
            <a:avLst/>
          </a:prstGeom>
          <a:solidFill>
            <a:srgbClr val="2A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2679192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743"/>
                </a:solidFill>
                <a:latin typeface="Aptos"/>
              </a:defRPr>
            </a:pPr>
            <a:r>
              <a:t>Approve Registrations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172968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C"/>
                </a:solidFill>
                <a:latin typeface="Aptos"/>
              </a:defRPr>
            </a:pPr>
            <a:r>
              <a:t>Verify and approve or reject beneficiary and shopkeeper registrations.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657600"/>
            <a:ext cx="516636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657600"/>
            <a:ext cx="73152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3822191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743"/>
                </a:solidFill>
                <a:latin typeface="Aptos"/>
              </a:defRPr>
            </a:pPr>
            <a:r>
              <a:t>Manage Quota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315968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C"/>
                </a:solidFill>
                <a:latin typeface="Aptos"/>
              </a:defRPr>
            </a:pPr>
            <a:r>
              <a:t>Set ration quantity and price for different card types.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657600"/>
            <a:ext cx="516636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3657600"/>
            <a:ext cx="73152" cy="960120"/>
          </a:xfrm>
          <a:prstGeom prst="rect">
            <a:avLst/>
          </a:prstGeom>
          <a:solidFill>
            <a:srgbClr val="2A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3822191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743"/>
                </a:solidFill>
                <a:latin typeface="Aptos"/>
              </a:defRPr>
            </a:pPr>
            <a:r>
              <a:t>Add New Item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315968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C"/>
                </a:solidFill>
                <a:latin typeface="Aptos"/>
              </a:defRPr>
            </a:pPr>
            <a:r>
              <a:t>Add a new ration item with quantity, price and unit.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800600"/>
            <a:ext cx="516636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77240" y="4800600"/>
            <a:ext cx="73152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4965192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743"/>
                </a:solidFill>
                <a:latin typeface="Aptos"/>
              </a:defRPr>
            </a:pPr>
            <a:r>
              <a:t>Complaint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458968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C"/>
                </a:solidFill>
                <a:latin typeface="Aptos"/>
              </a:defRPr>
            </a:pPr>
            <a:r>
              <a:t>Review complaints and update their status.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800600"/>
            <a:ext cx="516636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0" y="4800600"/>
            <a:ext cx="73152" cy="960120"/>
          </a:xfrm>
          <a:prstGeom prst="rect">
            <a:avLst/>
          </a:prstGeom>
          <a:solidFill>
            <a:srgbClr val="2A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46520" y="4965192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743"/>
                </a:solidFill>
                <a:latin typeface="Aptos"/>
              </a:defRPr>
            </a:pPr>
            <a:r>
              <a:t>Warning Alert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458968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C"/>
                </a:solidFill>
                <a:latin typeface="Aptos"/>
              </a:defRPr>
            </a:pPr>
            <a:r>
              <a:t>Send a warning notification to a shopkeeper when required.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1792" y="6464808"/>
            <a:ext cx="1967205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rPr dirty="0"/>
              <a:t>E-Ration Management System  |   Project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t>Shopkeeper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Module and Functionalities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73152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399032"/>
            <a:ext cx="10241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743"/>
                </a:solidFill>
                <a:latin typeface="Aptos"/>
              </a:defRPr>
            </a:pPr>
            <a:r>
              <a:t>Module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92808"/>
            <a:ext cx="10241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C"/>
                </a:solidFill>
                <a:latin typeface="Aptos"/>
              </a:defRPr>
            </a:pPr>
            <a:r>
              <a:t>Allows approved shopkeepers to manage ration shop stock and distribute ration to beneficiaries.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514600"/>
            <a:ext cx="516636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2514600"/>
            <a:ext cx="73152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679192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743"/>
                </a:solidFill>
                <a:latin typeface="Aptos"/>
              </a:defRPr>
            </a:pPr>
            <a:r>
              <a:t>Shopkeeper Registration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172968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C"/>
                </a:solidFill>
                <a:latin typeface="Aptos"/>
              </a:defRPr>
            </a:pPr>
            <a:r>
              <a:t>Enter owner and shop details and submit them for admin approval.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14600"/>
            <a:ext cx="516636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2514600"/>
            <a:ext cx="73152" cy="960120"/>
          </a:xfrm>
          <a:prstGeom prst="rect">
            <a:avLst/>
          </a:prstGeom>
          <a:solidFill>
            <a:srgbClr val="2A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2679192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743"/>
                </a:solidFill>
                <a:latin typeface="Aptos"/>
              </a:defRPr>
            </a:pPr>
            <a:r>
              <a:t>View Shop Stock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172968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C"/>
                </a:solidFill>
                <a:latin typeface="Aptos"/>
              </a:defRPr>
            </a:pPr>
            <a:r>
              <a:t>View allocated, distributed and available quantities.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657600"/>
            <a:ext cx="516636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657600"/>
            <a:ext cx="73152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3822191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743"/>
                </a:solidFill>
                <a:latin typeface="Aptos"/>
              </a:defRPr>
            </a:pPr>
            <a:r>
              <a:t>Update Stock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315968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C"/>
                </a:solidFill>
                <a:latin typeface="Aptos"/>
              </a:defRPr>
            </a:pPr>
            <a:r>
              <a:t>Add newly received stock to the shop inventory.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657600"/>
            <a:ext cx="516636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3657600"/>
            <a:ext cx="73152" cy="960120"/>
          </a:xfrm>
          <a:prstGeom prst="rect">
            <a:avLst/>
          </a:prstGeom>
          <a:solidFill>
            <a:srgbClr val="2A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3822191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743"/>
                </a:solidFill>
                <a:latin typeface="Aptos"/>
              </a:defRPr>
            </a:pPr>
            <a:r>
              <a:t>Distribute 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315968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C"/>
                </a:solidFill>
                <a:latin typeface="Aptos"/>
              </a:defRPr>
            </a:pPr>
            <a:r>
              <a:t>Record ration issued to beneficiaries.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800600"/>
            <a:ext cx="516636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77240" y="4800600"/>
            <a:ext cx="73152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4965192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743"/>
                </a:solidFill>
                <a:latin typeface="Aptos"/>
              </a:defRPr>
            </a:pPr>
            <a:r>
              <a:t>Stock Update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458968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C"/>
                </a:solidFill>
                <a:latin typeface="Aptos"/>
              </a:defRPr>
            </a:pPr>
            <a:r>
              <a:t>Stock balance is updated after ration distribution.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1792" y="6464808"/>
            <a:ext cx="1967205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rPr dirty="0"/>
              <a:t>E-Ration Management System  |  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t>Beneficiary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Module and Functionalities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73152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399032"/>
            <a:ext cx="10241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743"/>
                </a:solidFill>
                <a:latin typeface="Aptos"/>
              </a:defRPr>
            </a:pPr>
            <a:r>
              <a:t>Module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92808"/>
            <a:ext cx="10241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C"/>
                </a:solidFill>
                <a:latin typeface="Aptos"/>
              </a:defRPr>
            </a:pPr>
            <a:r>
              <a:t>Allows approved beneficiaries to access their ration information and interact with the ration shop.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514600"/>
            <a:ext cx="516636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2514600"/>
            <a:ext cx="73152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679192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743"/>
                </a:solidFill>
                <a:latin typeface="Aptos"/>
              </a:defRPr>
            </a:pPr>
            <a:r>
              <a:t>Beneficiary Registration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172968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C"/>
                </a:solidFill>
                <a:latin typeface="Aptos"/>
              </a:defRPr>
            </a:pPr>
            <a:r>
              <a:t>Enter personal and ration card details and submit for approval.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14600"/>
            <a:ext cx="516636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2514600"/>
            <a:ext cx="73152" cy="960120"/>
          </a:xfrm>
          <a:prstGeom prst="rect">
            <a:avLst/>
          </a:prstGeom>
          <a:solidFill>
            <a:srgbClr val="2A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2679192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743"/>
                </a:solidFill>
                <a:latin typeface="Aptos"/>
              </a:defRPr>
            </a:pPr>
            <a:r>
              <a:t>View 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172968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C"/>
                </a:solidFill>
                <a:latin typeface="Aptos"/>
              </a:defRPr>
            </a:pPr>
            <a:r>
              <a:t>View name, ration card type, address and assigned shop.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657600"/>
            <a:ext cx="516636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657600"/>
            <a:ext cx="73152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3822191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743"/>
                </a:solidFill>
                <a:latin typeface="Aptos"/>
              </a:defRPr>
            </a:pPr>
            <a:r>
              <a:t>View Monthly Quota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315968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C"/>
                </a:solidFill>
                <a:latin typeface="Aptos"/>
              </a:defRPr>
            </a:pPr>
            <a:r>
              <a:t>View allocated rice, wheat, sugar, kerosene and quantities.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657600"/>
            <a:ext cx="516636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3657600"/>
            <a:ext cx="73152" cy="960120"/>
          </a:xfrm>
          <a:prstGeom prst="rect">
            <a:avLst/>
          </a:prstGeom>
          <a:solidFill>
            <a:srgbClr val="2A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3822191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743"/>
                </a:solidFill>
                <a:latin typeface="Aptos"/>
              </a:defRPr>
            </a:pPr>
            <a:r>
              <a:t>View Distribution History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315968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C"/>
                </a:solidFill>
                <a:latin typeface="Aptos"/>
              </a:defRPr>
            </a:pPr>
            <a:r>
              <a:t>View previous ration collection transactions.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800600"/>
            <a:ext cx="516636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77240" y="4800600"/>
            <a:ext cx="73152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4965192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743"/>
                </a:solidFill>
                <a:latin typeface="Aptos"/>
              </a:defRPr>
            </a:pPr>
            <a:r>
              <a:t>View Alerts &amp; Shop Stock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458968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C"/>
                </a:solidFill>
                <a:latin typeface="Aptos"/>
              </a:defRPr>
            </a:pPr>
            <a:r>
              <a:t>View announcements, stock information and available shop stock.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800600"/>
            <a:ext cx="516636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0" y="4800600"/>
            <a:ext cx="73152" cy="960120"/>
          </a:xfrm>
          <a:prstGeom prst="rect">
            <a:avLst/>
          </a:prstGeom>
          <a:solidFill>
            <a:srgbClr val="2A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46520" y="4965192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743"/>
                </a:solidFill>
                <a:latin typeface="Aptos"/>
              </a:defRPr>
            </a:pPr>
            <a:r>
              <a:t>File Complaint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458968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C"/>
                </a:solidFill>
                <a:latin typeface="Aptos"/>
              </a:defRPr>
            </a:pPr>
            <a:r>
              <a:t>Submit a complaint against a ration shop.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1792" y="6464808"/>
            <a:ext cx="199125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rPr dirty="0"/>
              <a:t>E-Ration Management System  |  </a:t>
            </a:r>
            <a:r>
              <a:rPr dirty="0" err="1"/>
              <a:t>i</a:t>
            </a:r>
            <a:r>
              <a:rPr dirty="0"/>
              <a:t> Project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t>System Design – Use Case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880360"/>
            <a:ext cx="996696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64748B"/>
                </a:solidFill>
                <a:latin typeface="Aptos Display"/>
              </a:defRPr>
            </a:pPr>
            <a:r>
              <a:rPr dirty="0"/>
              <a:t>USE CASE DIAGRAM</a:t>
            </a:r>
          </a:p>
          <a:p>
            <a:pPr algn="ctr">
              <a:defRPr sz="1300">
                <a:solidFill>
                  <a:srgbClr val="64748B"/>
                </a:solidFill>
                <a:latin typeface="Aptos"/>
              </a:defRPr>
            </a:pPr>
            <a:r>
              <a:rPr dirty="0"/>
              <a:t>Insert the final Use Case Diagram 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464808"/>
            <a:ext cx="1967205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rPr dirty="0"/>
              <a:t>E-Ration Management System  |  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13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696" y="947387"/>
            <a:ext cx="7833049" cy="537470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65215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rPr dirty="0"/>
              <a:t>Use Case Specification 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464808"/>
            <a:ext cx="199125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rPr dirty="0"/>
              <a:t>E-Ration Management System  |  </a:t>
            </a:r>
            <a:r>
              <a:rPr dirty="0" err="1"/>
              <a:t>i</a:t>
            </a:r>
            <a:r>
              <a:rPr dirty="0"/>
              <a:t>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14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681BDE-1706-C5D9-128A-9D98F67AB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979" y="1078992"/>
            <a:ext cx="4599080" cy="518247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44234-0AB2-88B2-1E93-A42054669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1AE75A-0A4C-4E68-B9B2-F4A61EB29C2F}"/>
              </a:ext>
            </a:extLst>
          </p:cNvPr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87D5A9-8D30-61A5-63B1-6C1E5E58B643}"/>
              </a:ext>
            </a:extLst>
          </p:cNvPr>
          <p:cNvSpPr txBox="1"/>
          <p:nvPr/>
        </p:nvSpPr>
        <p:spPr>
          <a:xfrm>
            <a:off x="594360" y="347472"/>
            <a:ext cx="365215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rPr dirty="0"/>
              <a:t>Use Case Specification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956D5D-4DFE-7300-CEFA-88174F9A401A}"/>
              </a:ext>
            </a:extLst>
          </p:cNvPr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F6D632-A3A0-A39A-DCF3-7BA2B565A670}"/>
              </a:ext>
            </a:extLst>
          </p:cNvPr>
          <p:cNvSpPr txBox="1"/>
          <p:nvPr/>
        </p:nvSpPr>
        <p:spPr>
          <a:xfrm>
            <a:off x="621792" y="6464808"/>
            <a:ext cx="199125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rPr dirty="0"/>
              <a:t>E-Ration Management System  |  </a:t>
            </a:r>
            <a:r>
              <a:rPr dirty="0" err="1"/>
              <a:t>i</a:t>
            </a:r>
            <a:r>
              <a:rPr dirty="0"/>
              <a:t>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046CE5-C6EF-519E-0C51-090B659CB489}"/>
              </a:ext>
            </a:extLst>
          </p:cNvPr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14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073159-01BF-AA2E-4A1A-EE946A838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855303"/>
            <a:ext cx="5575441" cy="5312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1085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65215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rPr dirty="0"/>
              <a:t>Use Case Specification 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464808"/>
            <a:ext cx="1967205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rPr dirty="0"/>
              <a:t>E-Ration Management System  |  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15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1EAC61-C595-F5F6-5448-A0D69713C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891879"/>
            <a:ext cx="4519961" cy="529860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EC6A0-7E83-F828-CBC6-9863DF3B6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2513C8-0282-CE32-4C55-FE216916EF21}"/>
              </a:ext>
            </a:extLst>
          </p:cNvPr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12AB94-D8A8-8DBD-D6E8-B0E3D03D5A05}"/>
              </a:ext>
            </a:extLst>
          </p:cNvPr>
          <p:cNvSpPr txBox="1"/>
          <p:nvPr/>
        </p:nvSpPr>
        <p:spPr>
          <a:xfrm>
            <a:off x="594360" y="347472"/>
            <a:ext cx="365215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rPr dirty="0"/>
              <a:t>Use Case Specification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62A23F-AC8B-B768-28E8-D4C08869253E}"/>
              </a:ext>
            </a:extLst>
          </p:cNvPr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4FD022-B6C8-4A72-544A-02BE7632DFFF}"/>
              </a:ext>
            </a:extLst>
          </p:cNvPr>
          <p:cNvSpPr txBox="1"/>
          <p:nvPr/>
        </p:nvSpPr>
        <p:spPr>
          <a:xfrm>
            <a:off x="621792" y="6464808"/>
            <a:ext cx="1967205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rPr dirty="0"/>
              <a:t>E-Ration Management System  |  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858252-6406-8EA6-4C69-909FB367B412}"/>
              </a:ext>
            </a:extLst>
          </p:cNvPr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15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3999163-793F-22A1-F3E2-F5827D021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629" y="834830"/>
            <a:ext cx="4548711" cy="5547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156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1DAD7-0B5C-91B4-9DEB-6D9E15A9D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D37186-FA6A-B5DD-F6EE-0155AC4D903D}"/>
              </a:ext>
            </a:extLst>
          </p:cNvPr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096030-3A51-14A4-4936-F6FB8071B6DA}"/>
              </a:ext>
            </a:extLst>
          </p:cNvPr>
          <p:cNvSpPr txBox="1"/>
          <p:nvPr/>
        </p:nvSpPr>
        <p:spPr>
          <a:xfrm>
            <a:off x="594360" y="347472"/>
            <a:ext cx="365215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rPr dirty="0"/>
              <a:t>Use Case Specification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E71EF0-C9F2-1DEF-7E2C-5DA2A1E80C46}"/>
              </a:ext>
            </a:extLst>
          </p:cNvPr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2132DD-AF88-5EF6-3815-113018789F34}"/>
              </a:ext>
            </a:extLst>
          </p:cNvPr>
          <p:cNvSpPr txBox="1"/>
          <p:nvPr/>
        </p:nvSpPr>
        <p:spPr>
          <a:xfrm>
            <a:off x="621792" y="6464808"/>
            <a:ext cx="199125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rPr dirty="0"/>
              <a:t>E-Ration Management System  |  </a:t>
            </a:r>
            <a:r>
              <a:rPr dirty="0" err="1"/>
              <a:t>i</a:t>
            </a:r>
            <a:r>
              <a:rPr dirty="0"/>
              <a:t>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0E81C7-515D-6A5E-F21A-BC6C3124E491}"/>
              </a:ext>
            </a:extLst>
          </p:cNvPr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16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5FEA71-6962-9336-87A1-F6680B39D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482" y="850392"/>
            <a:ext cx="5378924" cy="536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0982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65215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rPr dirty="0"/>
              <a:t>Use Case Specification 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464808"/>
            <a:ext cx="199125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rPr dirty="0"/>
              <a:t>E-Ration Management System  |  </a:t>
            </a:r>
            <a:r>
              <a:rPr dirty="0" err="1"/>
              <a:t>i</a:t>
            </a:r>
            <a:r>
              <a:rPr dirty="0"/>
              <a:t>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16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4D7E4C-1E88-7E6A-8D55-955693110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043" y="848201"/>
            <a:ext cx="6235429" cy="54625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AF7A1-A4D7-28DF-DD15-A4E129385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D6D449-1EE6-D036-98C7-DC3FB0D75F34}"/>
              </a:ext>
            </a:extLst>
          </p:cNvPr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EEEEFD-E69C-E2CA-AB27-CF7791334911}"/>
              </a:ext>
            </a:extLst>
          </p:cNvPr>
          <p:cNvSpPr txBox="1"/>
          <p:nvPr/>
        </p:nvSpPr>
        <p:spPr>
          <a:xfrm>
            <a:off x="594360" y="347472"/>
            <a:ext cx="365215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rPr dirty="0"/>
              <a:t>Use Case Specification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AC5FD8-E182-21FF-F15A-DD1CEC1A42BF}"/>
              </a:ext>
            </a:extLst>
          </p:cNvPr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8B7E9C-DDB8-6C60-D5E0-B13DBB98676A}"/>
              </a:ext>
            </a:extLst>
          </p:cNvPr>
          <p:cNvSpPr txBox="1"/>
          <p:nvPr/>
        </p:nvSpPr>
        <p:spPr>
          <a:xfrm>
            <a:off x="621792" y="6464808"/>
            <a:ext cx="199125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rPr dirty="0"/>
              <a:t>E-Ration Management System  |  </a:t>
            </a:r>
            <a:r>
              <a:rPr dirty="0" err="1"/>
              <a:t>i</a:t>
            </a:r>
            <a:r>
              <a:rPr dirty="0"/>
              <a:t>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27CB75-CDCC-E417-B4A6-EBCF286343C6}"/>
              </a:ext>
            </a:extLst>
          </p:cNvPr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16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BAF171-572A-3D43-C554-88099855F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31" y="947927"/>
            <a:ext cx="6117469" cy="537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6444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65215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rPr dirty="0"/>
              <a:t>Use Case Specification 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464808"/>
            <a:ext cx="1967205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rPr dirty="0"/>
              <a:t>E-Ration Management System  |  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17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594F89-F071-8D0F-C037-B2FF50152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556" y="850392"/>
            <a:ext cx="6213425" cy="549699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65215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rPr dirty="0"/>
              <a:t>Use Case Specification 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464808"/>
            <a:ext cx="1946367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rPr dirty="0"/>
              <a:t>E-Ration Management System  | 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18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28352F-28C6-6322-6253-5C5447D5B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975" y="886968"/>
            <a:ext cx="553539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595EE-CB6A-5746-6344-DEED70BA2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C78EC06-1A74-BD84-F1B7-F992FC1BA10A}"/>
              </a:ext>
            </a:extLst>
          </p:cNvPr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323290-2A60-7D76-8DA1-090C7DE9727B}"/>
              </a:ext>
            </a:extLst>
          </p:cNvPr>
          <p:cNvSpPr txBox="1"/>
          <p:nvPr/>
        </p:nvSpPr>
        <p:spPr>
          <a:xfrm>
            <a:off x="594360" y="347472"/>
            <a:ext cx="365215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rPr dirty="0"/>
              <a:t>Use Case Specification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E187AA-9156-FE59-DB9B-760B5A883DEF}"/>
              </a:ext>
            </a:extLst>
          </p:cNvPr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3271D9-B835-36C0-E330-82D344E26381}"/>
              </a:ext>
            </a:extLst>
          </p:cNvPr>
          <p:cNvSpPr txBox="1"/>
          <p:nvPr/>
        </p:nvSpPr>
        <p:spPr>
          <a:xfrm>
            <a:off x="621792" y="6464808"/>
            <a:ext cx="1946367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rPr dirty="0"/>
              <a:t>E-Ration Management System  | 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554127-287D-5F65-0164-33966AECE3A9}"/>
              </a:ext>
            </a:extLst>
          </p:cNvPr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18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0C877D-8B89-BC08-94A5-245A4D7D7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975" y="1078992"/>
            <a:ext cx="4468954" cy="5092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3540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9E92E-8711-5D82-63DA-834D9B303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91F91D-775E-66C8-3D86-6DBF570246AD}"/>
              </a:ext>
            </a:extLst>
          </p:cNvPr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B32FEF-5815-3BE6-E2EF-BB082AEB5D7C}"/>
              </a:ext>
            </a:extLst>
          </p:cNvPr>
          <p:cNvSpPr txBox="1"/>
          <p:nvPr/>
        </p:nvSpPr>
        <p:spPr>
          <a:xfrm>
            <a:off x="594360" y="347472"/>
            <a:ext cx="365215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rPr dirty="0"/>
              <a:t>Use Case Specification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521BF5-ABC1-A353-7066-7F835BAC8C9E}"/>
              </a:ext>
            </a:extLst>
          </p:cNvPr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1B1715-BA89-4EFB-5457-B372144FD281}"/>
              </a:ext>
            </a:extLst>
          </p:cNvPr>
          <p:cNvSpPr txBox="1"/>
          <p:nvPr/>
        </p:nvSpPr>
        <p:spPr>
          <a:xfrm>
            <a:off x="621792" y="6464808"/>
            <a:ext cx="1946367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rPr dirty="0"/>
              <a:t>E-Ration Management System  | 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AB12D0-7953-E153-ED45-7D494F0A0CC3}"/>
              </a:ext>
            </a:extLst>
          </p:cNvPr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18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9AEE54-43F8-847B-CC28-7081F3C0B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159" y="830178"/>
            <a:ext cx="5007300" cy="5570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7949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1C125-3B1B-C1A7-9BBE-CBDA49555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F7C012-714F-70ED-460D-7B6F3B0F656F}"/>
              </a:ext>
            </a:extLst>
          </p:cNvPr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D17DC-5118-7E0E-B654-A584326DF9E6}"/>
              </a:ext>
            </a:extLst>
          </p:cNvPr>
          <p:cNvSpPr txBox="1"/>
          <p:nvPr/>
        </p:nvSpPr>
        <p:spPr>
          <a:xfrm>
            <a:off x="594360" y="347472"/>
            <a:ext cx="365215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rPr dirty="0"/>
              <a:t>Use Case Specification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982EEC-322D-4B2F-58AC-1573DA638093}"/>
              </a:ext>
            </a:extLst>
          </p:cNvPr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8953F1-58E1-3D36-5AEB-F018B5053BD6}"/>
              </a:ext>
            </a:extLst>
          </p:cNvPr>
          <p:cNvSpPr txBox="1"/>
          <p:nvPr/>
        </p:nvSpPr>
        <p:spPr>
          <a:xfrm>
            <a:off x="621792" y="6464808"/>
            <a:ext cx="1946367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rPr dirty="0"/>
              <a:t>E-Ration Management System  | 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354A7B-D7A5-DD1C-6D10-AFE16AEF5993}"/>
              </a:ext>
            </a:extLst>
          </p:cNvPr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18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783ED6-C20A-E201-2881-E7794B6CC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021" y="1078992"/>
            <a:ext cx="4722217" cy="508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9451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C6B92-F535-82C0-FE3B-9F47A37F8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FF2C11-FF7F-5963-C07B-16754DE8B416}"/>
              </a:ext>
            </a:extLst>
          </p:cNvPr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FCEFD1-D9A8-2ACA-A096-4ACE7C5008A2}"/>
              </a:ext>
            </a:extLst>
          </p:cNvPr>
          <p:cNvSpPr txBox="1"/>
          <p:nvPr/>
        </p:nvSpPr>
        <p:spPr>
          <a:xfrm>
            <a:off x="594360" y="347472"/>
            <a:ext cx="365215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rPr dirty="0"/>
              <a:t>Use Case Specification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1D943F-E082-D488-3103-42B5C74538CC}"/>
              </a:ext>
            </a:extLst>
          </p:cNvPr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8BAA50-8A70-0FBD-E41A-730A715DB8A5}"/>
              </a:ext>
            </a:extLst>
          </p:cNvPr>
          <p:cNvSpPr txBox="1"/>
          <p:nvPr/>
        </p:nvSpPr>
        <p:spPr>
          <a:xfrm>
            <a:off x="621792" y="6464808"/>
            <a:ext cx="1946367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rPr dirty="0"/>
              <a:t>E-Ration Management System  | 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8C2656-1575-9052-C685-72F4FC2DB2BA}"/>
              </a:ext>
            </a:extLst>
          </p:cNvPr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18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2161C8-E81A-3A58-A9FD-34EE806E4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122" y="983633"/>
            <a:ext cx="4498848" cy="5302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3164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EDAE4-0031-8565-ABF9-4CFADA725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9A2386-B6EE-69BC-1E2E-9F4F82D4FD64}"/>
              </a:ext>
            </a:extLst>
          </p:cNvPr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E5E458-56F5-112E-9147-827E438D9676}"/>
              </a:ext>
            </a:extLst>
          </p:cNvPr>
          <p:cNvSpPr txBox="1"/>
          <p:nvPr/>
        </p:nvSpPr>
        <p:spPr>
          <a:xfrm>
            <a:off x="594360" y="347472"/>
            <a:ext cx="3878178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rPr dirty="0"/>
              <a:t>Use Case Specification –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7E79B6-A2A9-A027-2F53-3356679CB420}"/>
              </a:ext>
            </a:extLst>
          </p:cNvPr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10D3E9-8520-2E86-5F68-7BD36086F3A5}"/>
              </a:ext>
            </a:extLst>
          </p:cNvPr>
          <p:cNvSpPr txBox="1"/>
          <p:nvPr/>
        </p:nvSpPr>
        <p:spPr>
          <a:xfrm>
            <a:off x="621792" y="6464808"/>
            <a:ext cx="1946367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rPr dirty="0"/>
              <a:t>E-Ration Management System  | 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6BFD9F-5F9E-DDAC-9BD7-58E4CFAD39A4}"/>
              </a:ext>
            </a:extLst>
          </p:cNvPr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18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F68B63-C42A-9C39-38B0-5D9B09253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252" y="850392"/>
            <a:ext cx="4399508" cy="549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2019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70CD9-573F-6FC2-2651-2529E26F3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3714FB-2119-8077-3855-21299BBB1758}"/>
              </a:ext>
            </a:extLst>
          </p:cNvPr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50AD00-324A-8E83-E9A4-B3D36873B34F}"/>
              </a:ext>
            </a:extLst>
          </p:cNvPr>
          <p:cNvSpPr txBox="1"/>
          <p:nvPr/>
        </p:nvSpPr>
        <p:spPr>
          <a:xfrm>
            <a:off x="594360" y="347472"/>
            <a:ext cx="365215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rPr dirty="0"/>
              <a:t>Use Case Specification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101DE1-8152-561A-1B15-50CAF1D64F58}"/>
              </a:ext>
            </a:extLst>
          </p:cNvPr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F542D6-A62F-D936-09CE-266B5E781206}"/>
              </a:ext>
            </a:extLst>
          </p:cNvPr>
          <p:cNvSpPr txBox="1"/>
          <p:nvPr/>
        </p:nvSpPr>
        <p:spPr>
          <a:xfrm>
            <a:off x="621792" y="6464808"/>
            <a:ext cx="1946367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rPr dirty="0"/>
              <a:t>E-Ration Management System  | 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6E766A-7813-D33E-EBC4-C480FBBAAFB2}"/>
              </a:ext>
            </a:extLst>
          </p:cNvPr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18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695A76-6E2A-3E39-F086-A3A37CBA2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992" y="850392"/>
            <a:ext cx="5063907" cy="553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6232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16D9A-93BB-FFF5-EDAE-FD96F6F80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D99B9E-E058-E565-34E8-CE35E996551B}"/>
              </a:ext>
            </a:extLst>
          </p:cNvPr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2F156D-5DD0-0B01-B4F3-18900366DFF9}"/>
              </a:ext>
            </a:extLst>
          </p:cNvPr>
          <p:cNvSpPr txBox="1"/>
          <p:nvPr/>
        </p:nvSpPr>
        <p:spPr>
          <a:xfrm>
            <a:off x="594360" y="347472"/>
            <a:ext cx="365215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rPr dirty="0"/>
              <a:t>Use Case Specification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0EA73E-C6E9-ED47-3AE3-347AE56EC863}"/>
              </a:ext>
            </a:extLst>
          </p:cNvPr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3EC19F-07B6-AE25-B913-54F418BE97D8}"/>
              </a:ext>
            </a:extLst>
          </p:cNvPr>
          <p:cNvSpPr txBox="1"/>
          <p:nvPr/>
        </p:nvSpPr>
        <p:spPr>
          <a:xfrm>
            <a:off x="621792" y="6464808"/>
            <a:ext cx="1946367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rPr dirty="0"/>
              <a:t>E-Ration Management System  | 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D0E3E6-E142-6407-518C-7FE5E95A125D}"/>
              </a:ext>
            </a:extLst>
          </p:cNvPr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18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A53043-A0C1-B625-5D8F-F708D3779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975" y="874672"/>
            <a:ext cx="4742932" cy="552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8161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t>System Design – Class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464808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E-Ration Management System  |  Mini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19</a:t>
            </a:r>
          </a:p>
        </p:txBody>
      </p:sp>
      <p:pic>
        <p:nvPicPr>
          <p:cNvPr id="8" name="Picture 7" descr="nisuclas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24840" y="946785"/>
            <a:ext cx="12456795" cy="537591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t>System Design – Sequence Diagram</a:t>
            </a:r>
          </a:p>
        </p:txBody>
      </p:sp>
      <p:pic>
        <p:nvPicPr>
          <p:cNvPr id="4" name="Picture 3" descr="sequenc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824" y="1239011"/>
            <a:ext cx="2358045" cy="52120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464808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E-Ration Management System  |  Mini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9B247-032A-2BD7-0321-A7AD6D1A9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3CD39A-B3D9-0C1D-C24F-DB6402F592AF}"/>
              </a:ext>
            </a:extLst>
          </p:cNvPr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5ED22A-C540-5D64-5FD7-9519C96F004E}"/>
              </a:ext>
            </a:extLst>
          </p:cNvPr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t>System Design – Activity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781AED-251E-AE77-BD01-9E3039A6DD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11681" y="886968"/>
            <a:ext cx="9143999" cy="526542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F642690-0BE9-CC90-155B-DDDF1797DF41}"/>
              </a:ext>
            </a:extLst>
          </p:cNvPr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2DCA2A-F1A6-4392-2402-430F3147CD0F}"/>
              </a:ext>
            </a:extLst>
          </p:cNvPr>
          <p:cNvSpPr txBox="1"/>
          <p:nvPr/>
        </p:nvSpPr>
        <p:spPr>
          <a:xfrm>
            <a:off x="621792" y="6464808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E-Ration Management System  |  Mini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FF37C6-142B-3B42-F5C7-F21C6F9DF52A}"/>
              </a:ext>
            </a:extLst>
          </p:cNvPr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2561734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464808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E-Ration Management System  | 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480060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The E-Ration Management System provides a centralized platform for digital ration management.</a:t>
            </a:r>
          </a:p>
          <a:p>
            <a:pPr>
              <a:spcAft>
                <a:spcPts val="12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It supports role-based operations for Admin, Shopkeeper and Beneficiary.</a:t>
            </a:r>
          </a:p>
          <a:p>
            <a:pPr>
              <a:spcAft>
                <a:spcPts val="12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Registration, approval, quota, stock and distribution can be managed systematically.</a:t>
            </a:r>
          </a:p>
          <a:p>
            <a:pPr>
              <a:spcAft>
                <a:spcPts val="12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Complaint and alert features support communication and monitoring.</a:t>
            </a:r>
          </a:p>
          <a:p>
            <a:pPr>
              <a:spcAft>
                <a:spcPts val="12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The system aims to reduce manual effort and maintain consistent digital records.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743"/>
                </a:solidFill>
                <a:latin typeface="Aptos Display"/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19088"/>
            <a:ext cx="1097280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464808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E-Ration Management System  | 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64808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480060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Project Functional and Non-Functional Requirements Document.</a:t>
            </a:r>
          </a:p>
          <a:p>
            <a:pPr>
              <a:spcAft>
                <a:spcPts val="12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PHP Documentation – Server-side application development.</a:t>
            </a:r>
          </a:p>
          <a:p>
            <a:pPr>
              <a:spcAft>
                <a:spcPts val="12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MySQL Documentation – Database management and SQL.</a:t>
            </a:r>
          </a:p>
          <a:p>
            <a:pPr>
              <a:spcAft>
                <a:spcPts val="12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PlantUML Documentation – UML diagram preparation.</a:t>
            </a:r>
          </a:p>
          <a:p>
            <a:pPr>
              <a:spcAft>
                <a:spcPts val="1200"/>
              </a:spcAft>
              <a:defRPr sz="1900">
                <a:solidFill>
                  <a:srgbClr val="232D3C"/>
                </a:solidFill>
                <a:latin typeface="Aptos"/>
              </a:defRPr>
            </a:pPr>
            <a:r>
              <a:t>Project design and implementation resources.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1253</Words>
  <Application>Microsoft Office PowerPoint</Application>
  <PresentationFormat>Widescreen</PresentationFormat>
  <Paragraphs>227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PARVATHI RAJ</dc:creator>
  <dc:description>generated using python-pptx</dc:description>
  <cp:lastModifiedBy>PARVATHI RAJ</cp:lastModifiedBy>
  <cp:revision>8</cp:revision>
  <dcterms:created xsi:type="dcterms:W3CDTF">2013-01-27T09:14:00Z</dcterms:created>
  <dcterms:modified xsi:type="dcterms:W3CDTF">2026-10-13T10:00:51Z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7221E403E9F74FC285BB55F265EDCD3E_13</vt:lpwstr>
  </property>
  <property fmtid="{D5CDD505-2E9C-101B-9397-08002B2CF9AE}" pid="3" name="KSOProductBuildVer">
    <vt:lpwstr>1033-12.1.0.26880</vt:lpwstr>
  </property>
</Properties>
</file>